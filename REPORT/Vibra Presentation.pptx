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80" r:id="rId3"/>
    <p:sldId id="278" r:id="rId4"/>
    <p:sldId id="271" r:id="rId5"/>
    <p:sldId id="273" r:id="rId6"/>
    <p:sldId id="274" r:id="rId7"/>
    <p:sldId id="276" r:id="rId8"/>
    <p:sldId id="279" r:id="rId9"/>
    <p:sldId id="282" r:id="rId10"/>
    <p:sldId id="283" r:id="rId11"/>
    <p:sldId id="266" r:id="rId12"/>
    <p:sldId id="267" r:id="rId13"/>
    <p:sldId id="265" r:id="rId14"/>
    <p:sldId id="26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715E1-A045-469B-92FB-C8158717FAF2}" v="25" dt="2025-12-03T18:45:11.153"/>
    <p1510:client id="{9BF5F5FF-1872-475B-B492-072FD5D5EA37}" v="414" dt="2025-12-03T22:18:15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30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49:54.3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D272C-AF20-452C-A613-FEAB8F7BFC25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C3A08-6560-450E-8909-461AEDC5E1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6399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C3A08-6560-450E-8909-461AEDC5E119}" type="slidenum">
              <a:rPr lang="fr-BE" smtClean="0"/>
              <a:t>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8111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C3A08-6560-450E-8909-461AEDC5E119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510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A1E8A8-70C3-55F5-99A1-0791E6DEF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A28580-4CD9-8A43-FF12-0C0A3AFC5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299F64-2CB7-A904-0A14-B9F7AFF7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705731-DE27-88CB-42BC-E992F722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B90046-32C1-CA9F-71D3-531AAFA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0715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7FA1A-566A-744A-6300-35093CAE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783677-968B-5F77-BCEE-B2B7BAC23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7314D2-A214-EAC8-0F96-F0C178A5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584128-A66F-7807-57A0-FDCA30C4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539F74-BCEB-36F1-0F9F-70D0AD22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8655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F2D5DF-D62E-6601-1DD6-ABEFFD5D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696B06-6A86-DD95-92BA-CF612BE9F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742D3A-17BD-7A72-2B32-4D938687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C56118-E213-3F75-EFCB-7B58F249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1C9D54-AB48-ECD7-6247-D0C988C0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5736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7F0B2-D31A-5128-0603-4DEF2FB31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DEC73A-B06B-8394-6FF3-94CFC979A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C39131-29CC-5F77-B19E-2E1235BDE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7E5C24-1B7C-0F74-39CB-D01E9AD8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AE8014-7E40-F71B-8657-C55961E51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3797ED-49D6-83CA-3173-C9A7BFD7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1113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65AB3-ECAC-2A11-13FA-1A52A7AD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359B09-E67D-F121-5882-9D6CB247B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A62AD5-8A7C-330B-77C1-8A011A6E7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A06FBA-ECAA-756E-141B-1A753BFF6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75DEC4-8D3A-6411-EB48-DAF56EEAA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7444CC-8178-00D4-7B92-B2F31AF80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2EDCB0-EA3A-6F48-BD26-1EC550AC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2C77AA-CB6D-99E1-FA69-6251BFB4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801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8416C-8D82-B500-3B0C-33F7C0A1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8191349-5BE5-F255-D25E-8D3E050EC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EE8158-02E9-DC42-E70D-7F705D76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F2D068-7708-E220-0ED5-FC683F32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21742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C6763C9-2112-B8CA-2588-0692426C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8B5073-1F84-8962-08BA-74A63FCB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AF5F20-AB6D-05C0-2F53-1292E828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77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6C047-A619-D1B7-71A9-841EC163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F8D48E-51A8-ABD2-9707-23AA00C8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93FA56-0743-C323-2CA6-64ECDD3A5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449467-80AE-E8BD-5A4E-F2F1395C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C98C1C-2D19-E8F5-1DA9-C69274CF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2371BE-F626-8C37-21EE-085F0B99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415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3C05A-6C64-766D-34C0-12A03B12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70C399-3218-E4C2-18D7-EF3A2B37A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50B824-1E1A-802F-9E24-50AB5AC6E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79784A-B1BF-E753-EAFB-E3B21469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5A305D-4129-BFD5-1DC3-9CA555D1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AE7149-5629-B2D8-ABB0-D8027996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24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A588C1-4837-444E-E713-7E9D1172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F9FDB4-BCB8-481C-90A5-3308F9DC5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6CDEF3-12DE-0D22-929F-398A22BA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9DB620-31DC-9DAA-5867-E8993C8A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20DF8-328D-1CA9-5999-9C8FF770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9250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827850-5B5D-07B8-E135-A301349EB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4E6647-FB81-01F8-EA13-906E55416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9884ED-B512-C5F7-9033-2F9AD71E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18-12-25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628B02-253A-9274-D282-09283E72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80065-271B-66DC-BDB9-BA52649B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3286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D370367-2AEC-B30E-8CC1-7A90B237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3E129C-5EC5-8E67-38DE-DA61A0851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F0E0A0-CA2A-5616-6384-9907060D5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BE"/>
              <a:t>18-12-25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FCE154-CDAC-CBCF-CB56-8853B3AA0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8F4117-8199-82DF-5B06-67586A221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0CDF9-FCE0-4FC0-B237-BB87E200A8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3510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2AE0A-9B6D-8E49-31D4-2A75F670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D1073-E315-C3E8-BF09-E83F1995E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8233"/>
            <a:ext cx="9144000" cy="1242391"/>
          </a:xfrm>
        </p:spPr>
        <p:txBody>
          <a:bodyPr>
            <a:normAutofit/>
          </a:bodyPr>
          <a:lstStyle/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Analysis of the dynamic behavior of a steel canopy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A787C7-492B-A25E-71BD-25118FBD2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1421" y="2702221"/>
            <a:ext cx="9144000" cy="941227"/>
          </a:xfrm>
        </p:spPr>
        <p:txBody>
          <a:bodyPr>
            <a:norm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Group 16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Tom Beauve, Lilian Steimetz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773CF9-6212-36F4-CC2F-F5F206CD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19F028-42B2-25BA-EF93-D59C9065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1</a:t>
            </a:fld>
            <a:endParaRPr lang="en-US" noProof="0" dirty="0"/>
          </a:p>
        </p:txBody>
      </p:sp>
      <p:pic>
        <p:nvPicPr>
          <p:cNvPr id="1026" name="Picture 2" descr="FAQ Espace de téléchargement">
            <a:extLst>
              <a:ext uri="{FF2B5EF4-FFF2-40B4-BE49-F238E27FC236}">
                <a16:creationId xmlns:a16="http://schemas.microsoft.com/office/drawing/2014/main" id="{C78DB4BC-DC93-48CF-7A04-B46EF5B71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Une image contenant ligne, diagramme, Tracé, pente&#10;&#10;Le contenu généré par l’IA peut être incorrect.">
            <a:extLst>
              <a:ext uri="{FF2B5EF4-FFF2-40B4-BE49-F238E27FC236}">
                <a16:creationId xmlns:a16="http://schemas.microsoft.com/office/drawing/2014/main" id="{B5C31FC3-F76D-4B4E-94EA-54F39206D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04" y="3643448"/>
            <a:ext cx="7701592" cy="240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1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E3452-03D7-C0E5-2AFC-42ABC994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4B98DC-00F2-A8C4-9C3C-770C6223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9B52DA-D9BF-B6AE-3761-E9A7B267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2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52A0466C-3C2D-BF34-A343-DCA7C9D02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74B1C6C-E869-7298-B768-69E427684885}"/>
              </a:ext>
            </a:extLst>
          </p:cNvPr>
          <p:cNvSpPr txBox="1"/>
          <p:nvPr/>
        </p:nvSpPr>
        <p:spPr>
          <a:xfrm>
            <a:off x="7279666" y="5581503"/>
            <a:ext cx="4619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Python model with 5 elements per beam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BF6B8952-434B-18AC-D47F-0A439428D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7586" y="1553108"/>
            <a:ext cx="6976776" cy="413843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D8E4E32-FCCC-54A7-1F11-5E8C5265929F}"/>
              </a:ext>
            </a:extLst>
          </p:cNvPr>
          <p:cNvSpPr txBox="1"/>
          <p:nvPr/>
        </p:nvSpPr>
        <p:spPr>
          <a:xfrm>
            <a:off x="434340" y="2042160"/>
            <a:ext cx="69767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Equal (variable) number of elements per beam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NX model : Timochenko beam elements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Python model : Euler-Bernoulli beam elements </a:t>
            </a:r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(shear neglected)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Total mass (using RBM in translation) : 1681 kg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Equal mass for both models</a:t>
            </a:r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5AC09A1E-B753-2D59-C05E-EFBEB346D221}"/>
              </a:ext>
            </a:extLst>
          </p:cNvPr>
          <p:cNvSpPr txBox="1">
            <a:spLocks/>
          </p:cNvSpPr>
          <p:nvPr/>
        </p:nvSpPr>
        <p:spPr>
          <a:xfrm>
            <a:off x="3130825" y="648600"/>
            <a:ext cx="5930348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Modeling strategy</a:t>
            </a:r>
          </a:p>
        </p:txBody>
      </p:sp>
    </p:spTree>
    <p:extLst>
      <p:ext uri="{BB962C8B-B14F-4D97-AF65-F5344CB8AC3E}">
        <p14:creationId xmlns:p14="http://schemas.microsoft.com/office/powerpoint/2010/main" val="2813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3D35-DD71-34E5-4A35-4D4416F9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8A922-B937-EAF1-3FAA-354026D13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100" y="439923"/>
            <a:ext cx="9067799" cy="1292016"/>
          </a:xfrm>
        </p:spPr>
        <p:txBody>
          <a:bodyPr>
            <a:normAutofit/>
          </a:bodyPr>
          <a:lstStyle/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Modal analysis : </a:t>
            </a:r>
            <a:b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convergence &amp; comparison of the 2 models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D478F-E3F4-ABDE-1465-F9EB1C3E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32B766-BD96-D766-32BC-654559DB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3F361348-9167-2547-FA87-8704B4AC3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A14BD718-7C66-C001-AC62-7AB95D177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7888" y="1717620"/>
            <a:ext cx="4544588" cy="3408441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5F7406F-3574-7E05-3D14-54DC6B0A01F4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noProof="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C7EB130-1A63-605E-DA4C-03D86C832139}"/>
              </a:ext>
            </a:extLst>
          </p:cNvPr>
          <p:cNvSpPr txBox="1"/>
          <p:nvPr/>
        </p:nvSpPr>
        <p:spPr>
          <a:xfrm>
            <a:off x="642896" y="2217747"/>
            <a:ext cx="689834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Convergence after 5 elements per beam</a:t>
            </a:r>
          </a:p>
          <a:p>
            <a:pPr marL="285750" indent="-28575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Python model consistently stiffer than NX (Euler-Bernoulli vs Timoshenko)  </a:t>
            </a:r>
          </a:p>
        </p:txBody>
      </p:sp>
      <p:graphicFrame>
        <p:nvGraphicFramePr>
          <p:cNvPr id="26" name="Tableau 25">
            <a:extLst>
              <a:ext uri="{FF2B5EF4-FFF2-40B4-BE49-F238E27FC236}">
                <a16:creationId xmlns:a16="http://schemas.microsoft.com/office/drawing/2014/main" id="{B4BBE3A0-A70C-7659-8EBA-CE3727543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95288"/>
              </p:ext>
            </p:extLst>
          </p:nvPr>
        </p:nvGraphicFramePr>
        <p:xfrm>
          <a:off x="2109746" y="5138178"/>
          <a:ext cx="7623530" cy="1341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4630">
                  <a:extLst>
                    <a:ext uri="{9D8B030D-6E8A-4147-A177-3AD203B41FA5}">
                      <a16:colId xmlns:a16="http://schemas.microsoft.com/office/drawing/2014/main" val="1346512570"/>
                    </a:ext>
                  </a:extLst>
                </a:gridCol>
                <a:gridCol w="1023150">
                  <a:extLst>
                    <a:ext uri="{9D8B030D-6E8A-4147-A177-3AD203B41FA5}">
                      <a16:colId xmlns:a16="http://schemas.microsoft.com/office/drawing/2014/main" val="112135183"/>
                    </a:ext>
                  </a:extLst>
                </a:gridCol>
                <a:gridCol w="1023150">
                  <a:extLst>
                    <a:ext uri="{9D8B030D-6E8A-4147-A177-3AD203B41FA5}">
                      <a16:colId xmlns:a16="http://schemas.microsoft.com/office/drawing/2014/main" val="2624783748"/>
                    </a:ext>
                  </a:extLst>
                </a:gridCol>
                <a:gridCol w="1023150">
                  <a:extLst>
                    <a:ext uri="{9D8B030D-6E8A-4147-A177-3AD203B41FA5}">
                      <a16:colId xmlns:a16="http://schemas.microsoft.com/office/drawing/2014/main" val="2465498165"/>
                    </a:ext>
                  </a:extLst>
                </a:gridCol>
                <a:gridCol w="1023150">
                  <a:extLst>
                    <a:ext uri="{9D8B030D-6E8A-4147-A177-3AD203B41FA5}">
                      <a16:colId xmlns:a16="http://schemas.microsoft.com/office/drawing/2014/main" val="2483364145"/>
                    </a:ext>
                  </a:extLst>
                </a:gridCol>
                <a:gridCol w="1023150">
                  <a:extLst>
                    <a:ext uri="{9D8B030D-6E8A-4147-A177-3AD203B41FA5}">
                      <a16:colId xmlns:a16="http://schemas.microsoft.com/office/drawing/2014/main" val="434740062"/>
                    </a:ext>
                  </a:extLst>
                </a:gridCol>
                <a:gridCol w="1023150">
                  <a:extLst>
                    <a:ext uri="{9D8B030D-6E8A-4147-A177-3AD203B41FA5}">
                      <a16:colId xmlns:a16="http://schemas.microsoft.com/office/drawing/2014/main" val="3049278775"/>
                    </a:ext>
                  </a:extLst>
                </a:gridCol>
              </a:tblGrid>
              <a:tr h="274059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719739"/>
                  </a:ext>
                </a:extLst>
              </a:tr>
              <a:tr h="302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(Hz)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14.877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366262"/>
                  </a:ext>
                </a:extLst>
              </a:tr>
              <a:tr h="302502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NX (Hz)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14.816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95377"/>
                  </a:ext>
                </a:extLst>
              </a:tr>
              <a:tr h="302502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Rel. Error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497183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4067658C-2335-3652-A3C5-7F3D579FAF80}"/>
              </a:ext>
            </a:extLst>
          </p:cNvPr>
          <p:cNvSpPr txBox="1"/>
          <p:nvPr/>
        </p:nvSpPr>
        <p:spPr>
          <a:xfrm>
            <a:off x="556031" y="4732010"/>
            <a:ext cx="6658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Natural frequencies for 10 elements per beam :</a:t>
            </a:r>
          </a:p>
        </p:txBody>
      </p:sp>
    </p:spTree>
    <p:extLst>
      <p:ext uri="{BB962C8B-B14F-4D97-AF65-F5344CB8AC3E}">
        <p14:creationId xmlns:p14="http://schemas.microsoft.com/office/powerpoint/2010/main" val="192928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E10809-E88F-9446-367D-21251135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789C65-C58A-1D3E-9813-2D4C9DD3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38856097-1D38-124F-0663-E345FEAD3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E249CEF-A65F-CA39-3074-4DE8A7D48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7" y="1929948"/>
            <a:ext cx="5801784" cy="4351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ACE5753-BCBC-A822-7E38-4CD3E7F389A5}"/>
                  </a:ext>
                </a:extLst>
              </p:cNvPr>
              <p:cNvSpPr txBox="1"/>
              <p:nvPr/>
            </p:nvSpPr>
            <p:spPr>
              <a:xfrm>
                <a:off x="6229351" y="2133946"/>
                <a:ext cx="6097656" cy="1469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Spatial factor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𝐬</m:t>
                              </m:r>
                            </m:sub>
                            <m:sup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𝐓</m:t>
                              </m:r>
                            </m:sup>
                          </m:sSubSup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 </m:t>
                          </m:r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𝐠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ACE5753-BCBC-A822-7E38-4CD3E7F38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1" y="2133946"/>
                <a:ext cx="6097656" cy="1469569"/>
              </a:xfrm>
              <a:prstGeom prst="rect">
                <a:avLst/>
              </a:prstGeom>
              <a:blipFill>
                <a:blip r:embed="rId6"/>
                <a:stretch>
                  <a:fillRect l="-2100" t="-414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BB7C4BC-2A39-6CE2-A34F-BD983F2E710B}"/>
                  </a:ext>
                </a:extLst>
              </p:cNvPr>
              <p:cNvSpPr txBox="1"/>
              <p:nvPr/>
            </p:nvSpPr>
            <p:spPr>
              <a:xfrm>
                <a:off x="6096000" y="4272367"/>
                <a:ext cx="7111446" cy="14151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Temporal factor :</a:t>
                </a:r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800" i="1" noProof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func>
                            <m:funcPr>
                              <m:ctrlP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 noProof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sz="2800" i="1" noProof="0" smtClean="0">
                              <a:latin typeface="Cambria Math" panose="02040503050406030204" pitchFamily="18" charset="0"/>
                            </a:rPr>
                            <m:t> − </m:t>
                          </m:r>
                          <m:r>
                            <a:rPr lang="en-US" sz="280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i="1" noProof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func>
                            <m:funcPr>
                              <m:ctrlP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 noProof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sz="28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BB7C4BC-2A39-6CE2-A34F-BD983F2E7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72367"/>
                <a:ext cx="7111446" cy="1415131"/>
              </a:xfrm>
              <a:prstGeom prst="rect">
                <a:avLst/>
              </a:prstGeom>
              <a:blipFill>
                <a:blip r:embed="rId7"/>
                <a:stretch>
                  <a:fillRect l="-1714" t="-474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1">
            <a:extLst>
              <a:ext uri="{FF2B5EF4-FFF2-40B4-BE49-F238E27FC236}">
                <a16:creationId xmlns:a16="http://schemas.microsoft.com/office/drawing/2014/main" id="{B14684FF-CF0F-F199-FB69-2DACAB81B1CA}"/>
              </a:ext>
            </a:extLst>
          </p:cNvPr>
          <p:cNvSpPr txBox="1">
            <a:spLocks/>
          </p:cNvSpPr>
          <p:nvPr/>
        </p:nvSpPr>
        <p:spPr>
          <a:xfrm>
            <a:off x="838200" y="642868"/>
            <a:ext cx="10515600" cy="586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Stationary response : MD and MA comparison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3316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BC1034-BDF5-DCF7-9A6B-1A60B065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594"/>
            <a:ext cx="10515600" cy="58670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Comfort level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599C77B-1240-8886-F0AC-060C2F33E4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1670" y="189519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RMS value 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bar>
                          <m:barPr>
                            <m:pos m:val="top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p>
                              <m:sSup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bar>
                      </m:e>
                    </m:ra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=0,6560</m:t>
                    </m:r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noProof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m</m:t>
                        </m:r>
                        <m:r>
                          <m:rPr>
                            <m:lit/>
                            <m:nor/>
                          </m:rPr>
                          <a:rPr lang="en-US" b="0" i="0" noProof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ISO2631 : </a:t>
                </a:r>
                <a:endParaRPr lang="en-US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599C77B-1240-8886-F0AC-060C2F33E4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670" y="1895199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41DEE3-6913-0385-7956-09241BC6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343099-90C8-26B2-B8AF-299B8F05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FCC4CFD1-9D1E-30D6-64A2-D528B934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Une image contenant diagramme, texte, ligne, Parallèle&#10;&#10;Le contenu généré par l’IA peut être incorrect.">
            <a:extLst>
              <a:ext uri="{FF2B5EF4-FFF2-40B4-BE49-F238E27FC236}">
                <a16:creationId xmlns:a16="http://schemas.microsoft.com/office/drawing/2014/main" id="{DD3C6E2F-31F6-BF03-93E5-8D4A41893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829684"/>
            <a:ext cx="4675585" cy="3788742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DC6009D-3241-95F0-6C57-2DEF28689F81}"/>
              </a:ext>
            </a:extLst>
          </p:cNvPr>
          <p:cNvCxnSpPr/>
          <p:nvPr/>
        </p:nvCxnSpPr>
        <p:spPr>
          <a:xfrm>
            <a:off x="7030065" y="2408903"/>
            <a:ext cx="247772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7C539D59-F705-DACC-1937-C3A20241758E}"/>
              </a:ext>
            </a:extLst>
          </p:cNvPr>
          <p:cNvCxnSpPr>
            <a:cxnSpLocks/>
          </p:cNvCxnSpPr>
          <p:nvPr/>
        </p:nvCxnSpPr>
        <p:spPr>
          <a:xfrm flipH="1">
            <a:off x="5771535" y="5043948"/>
            <a:ext cx="373625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F2F247FA-D9CD-90FB-83C2-CC48E1A44F2B}"/>
              </a:ext>
            </a:extLst>
          </p:cNvPr>
          <p:cNvCxnSpPr>
            <a:cxnSpLocks/>
          </p:cNvCxnSpPr>
          <p:nvPr/>
        </p:nvCxnSpPr>
        <p:spPr>
          <a:xfrm>
            <a:off x="9507794" y="2408903"/>
            <a:ext cx="0" cy="2635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069C1995-AFE3-A65C-01BF-D713F745A8BC}"/>
                  </a:ext>
                </a:extLst>
              </p14:cNvPr>
              <p14:cNvContentPartPr/>
              <p14:nvPr/>
            </p14:nvContentPartPr>
            <p14:xfrm>
              <a:off x="5628139" y="5033572"/>
              <a:ext cx="360" cy="360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069C1995-AFE3-A65C-01BF-D713F745A8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5139" y="4970572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328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62693-E1F6-25F6-177E-5D9546F4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943"/>
            <a:ext cx="10515600" cy="666577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Damping ratios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1435574-CEF0-D48A-53B6-F0B91E420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From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sub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bSup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𝐂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 with </a:t>
                </a:r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𝐌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 the damping ratio expression is obtained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 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For the first six modes : </a:t>
                </a:r>
              </a:p>
              <a:p>
                <a:pPr marL="0" indent="0" algn="ctr">
                  <a:buNone/>
                </a:pPr>
                <a:endParaRPr lang="en-US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1435574-CEF0-D48A-53B6-F0B91E420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9878C6-5909-68F7-1DD9-3B44CBE6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940CED-BC88-D0A4-B221-FB342005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6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15A6CBB5-6B1B-C7F2-DDF6-C93DE123C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52AEFAE-3C76-3B66-FBE2-849DBE1DA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912400"/>
              </p:ext>
            </p:extLst>
          </p:nvPr>
        </p:nvGraphicFramePr>
        <p:xfrm>
          <a:off x="1531421" y="4905657"/>
          <a:ext cx="9087127" cy="977462"/>
        </p:xfrm>
        <a:graphic>
          <a:graphicData uri="http://schemas.openxmlformats.org/drawingml/2006/table">
            <a:tbl>
              <a:tblPr firstCol="1">
                <a:tableStyleId>{21E4AEA4-8DFA-4A89-87EB-49C32662AFE0}</a:tableStyleId>
              </a:tblPr>
              <a:tblGrid>
                <a:gridCol w="2356256">
                  <a:extLst>
                    <a:ext uri="{9D8B030D-6E8A-4147-A177-3AD203B41FA5}">
                      <a16:colId xmlns:a16="http://schemas.microsoft.com/office/drawing/2014/main" val="3132611921"/>
                    </a:ext>
                  </a:extLst>
                </a:gridCol>
                <a:gridCol w="1081888">
                  <a:extLst>
                    <a:ext uri="{9D8B030D-6E8A-4147-A177-3AD203B41FA5}">
                      <a16:colId xmlns:a16="http://schemas.microsoft.com/office/drawing/2014/main" val="2363325988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181227705"/>
                    </a:ext>
                  </a:extLst>
                </a:gridCol>
                <a:gridCol w="1202635">
                  <a:extLst>
                    <a:ext uri="{9D8B030D-6E8A-4147-A177-3AD203B41FA5}">
                      <a16:colId xmlns:a16="http://schemas.microsoft.com/office/drawing/2014/main" val="287061285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3995553878"/>
                    </a:ext>
                  </a:extLst>
                </a:gridCol>
                <a:gridCol w="974035">
                  <a:extLst>
                    <a:ext uri="{9D8B030D-6E8A-4147-A177-3AD203B41FA5}">
                      <a16:colId xmlns:a16="http://schemas.microsoft.com/office/drawing/2014/main" val="796027961"/>
                    </a:ext>
                  </a:extLst>
                </a:gridCol>
                <a:gridCol w="1096861">
                  <a:extLst>
                    <a:ext uri="{9D8B030D-6E8A-4147-A177-3AD203B41FA5}">
                      <a16:colId xmlns:a16="http://schemas.microsoft.com/office/drawing/2014/main" val="1926036670"/>
                    </a:ext>
                  </a:extLst>
                </a:gridCol>
              </a:tblGrid>
              <a:tr h="491291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[-]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494791"/>
                  </a:ext>
                </a:extLst>
              </a:tr>
              <a:tr h="486171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Damping ratio [-]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76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22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10FE1-90A0-B435-E37C-A7DA6EA5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334"/>
            <a:ext cx="10515600" cy="943571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Newmark algorithm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Integration parameters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81DE37A7-1FCA-033B-2509-B962CE73B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9006" y="1526240"/>
            <a:ext cx="5813988" cy="3270368"/>
          </a:xfr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C168EA-187D-A1EF-24D8-0E1F1EF5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ACBC86-4391-C7DD-D1BC-EFF18DC4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12FBE8C6-D2C0-2775-6168-F27A8D14C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820266E-CFFE-F746-22E2-82AEA6BA8569}"/>
                  </a:ext>
                </a:extLst>
              </p:cNvPr>
              <p:cNvSpPr txBox="1"/>
              <p:nvPr/>
            </p:nvSpPr>
            <p:spPr>
              <a:xfrm>
                <a:off x="324314" y="1593231"/>
                <a:ext cx="24129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u="sng" noProof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b="0" i="1" u="sng" noProof="0" smtClean="0">
                          <a:latin typeface="Cambria Math" panose="02040503050406030204" pitchFamily="18" charset="0"/>
                        </a:rPr>
                        <m:t>= 0,5, </m:t>
                      </m:r>
                      <m:r>
                        <m:rPr>
                          <m:sty m:val="p"/>
                        </m:rPr>
                        <a:rPr lang="en-US" sz="2400" b="0" i="1" u="sng" noProof="0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sz="2400" b="0" i="1" u="sng" noProof="0" smtClean="0">
                          <a:latin typeface="Cambria Math" panose="02040503050406030204" pitchFamily="18" charset="0"/>
                        </a:rPr>
                        <m:t>= 0,25</m:t>
                      </m:r>
                    </m:oMath>
                  </m:oMathPara>
                </a14:m>
                <a:endParaRPr lang="en-US" sz="2400" u="sng" noProof="0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820266E-CFFE-F746-22E2-82AEA6BA8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14" y="1593231"/>
                <a:ext cx="2412968" cy="369332"/>
              </a:xfrm>
              <a:prstGeom prst="rect">
                <a:avLst/>
              </a:prstGeom>
              <a:blipFill>
                <a:blip r:embed="rId5"/>
                <a:stretch>
                  <a:fillRect l="-2525" t="-1639" r="-3283" b="-3278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5E4BBDB-5F6D-B50C-3BD5-C77F62AB0FAB}"/>
                  </a:ext>
                </a:extLst>
              </p:cNvPr>
              <p:cNvSpPr txBox="1"/>
              <p:nvPr/>
            </p:nvSpPr>
            <p:spPr>
              <a:xfrm>
                <a:off x="2737282" y="5115165"/>
                <a:ext cx="7249357" cy="854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 b="0" i="0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Δ</m:t>
                        </m:r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num>
                      <m:den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den>
                    </m:f>
                    <m:r>
                      <a:rPr lang="en-US" sz="28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28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48</m:t>
                            </m:r>
                          </m:den>
                        </m:f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𝛾</m:t>
                            </m:r>
                          </m:num>
                          <m:den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den>
                        </m:f>
                        <m:d>
                          <m:dPr>
                            <m:ctrlP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𝛾</m:t>
                            </m:r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−3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p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e>
                      <m:sup>
                        <m: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8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Ο</m:t>
                    </m:r>
                    <m:d>
                      <m:dPr>
                        <m:ctrlPr>
                          <a:rPr lang="en-US" sz="2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en-US" noProof="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5E4BBDB-5F6D-B50C-3BD5-C77F62AB0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282" y="5115165"/>
                <a:ext cx="7249357" cy="854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B2460C3-505B-CC85-FE07-FDCDF575E269}"/>
              </a:ext>
            </a:extLst>
          </p:cNvPr>
          <p:cNvSpPr/>
          <p:nvPr/>
        </p:nvSpPr>
        <p:spPr>
          <a:xfrm>
            <a:off x="2487254" y="4990064"/>
            <a:ext cx="7359588" cy="11097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794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FFF2F9-05D1-3827-F70B-81FEC435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FEA687-DDE7-9373-CC3B-81E4AB17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BFC8113-9E5B-319A-90B6-C0806540A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875" y="1610776"/>
            <a:ext cx="5956250" cy="3350391"/>
          </a:xfrm>
          <a:prstGeom prst="rect">
            <a:avLst/>
          </a:prstGeom>
        </p:spPr>
      </p:pic>
      <p:pic>
        <p:nvPicPr>
          <p:cNvPr id="7" name="Picture 2" descr="FAQ Espace de téléchargement">
            <a:extLst>
              <a:ext uri="{FF2B5EF4-FFF2-40B4-BE49-F238E27FC236}">
                <a16:creationId xmlns:a16="http://schemas.microsoft.com/office/drawing/2014/main" id="{F3556C3B-4A6B-E6CA-811F-98A5087F5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18DE280-F423-9DF9-C84A-2BBCE00CD7D7}"/>
                  </a:ext>
                </a:extLst>
              </p:cNvPr>
              <p:cNvSpPr txBox="1"/>
              <p:nvPr/>
            </p:nvSpPr>
            <p:spPr>
              <a:xfrm>
                <a:off x="-1515839" y="1620187"/>
                <a:ext cx="60945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u="sng" noProof="0" smtClean="0">
                          <a:effectLst/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b="0" i="1" u="sng" noProof="0" smtClean="0">
                          <a:effectLst/>
                          <a:latin typeface="Cambria Math" panose="02040503050406030204" pitchFamily="18" charset="0"/>
                        </a:rPr>
                        <m:t>= 0,91 , </m:t>
                      </m:r>
                      <m:r>
                        <m:rPr>
                          <m:sty m:val="p"/>
                        </m:rPr>
                        <a:rPr lang="en-US" sz="2400" b="0" i="1" u="sng" noProof="0" smtClean="0">
                          <a:effectLst/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sz="2400" b="0" i="1" u="sng" noProof="0" smtClean="0">
                          <a:effectLst/>
                          <a:latin typeface="Cambria Math" panose="02040503050406030204" pitchFamily="18" charset="0"/>
                        </a:rPr>
                        <m:t>= 0,5 </m:t>
                      </m:r>
                    </m:oMath>
                  </m:oMathPara>
                </a14:m>
                <a:endParaRPr lang="en-US" sz="2400" u="sng" noProof="0" dirty="0">
                  <a:effectLst/>
                </a:endParaRP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18DE280-F423-9DF9-C84A-2BBCE00CD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5839" y="1620187"/>
                <a:ext cx="6094520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E639FEA-3C72-AFF4-0829-16FB70A738AF}"/>
                  </a:ext>
                </a:extLst>
              </p:cNvPr>
              <p:cNvSpPr txBox="1"/>
              <p:nvPr/>
            </p:nvSpPr>
            <p:spPr>
              <a:xfrm>
                <a:off x="1306497" y="5006980"/>
                <a:ext cx="9579006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barPr>
                        <m:e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𝜀</m:t>
                          </m:r>
                        </m:e>
                      </m:bar>
                      <m:r>
                        <a:rPr lang="en-US" sz="280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𝜔</m:t>
                      </m:r>
                      <m:r>
                        <a:rPr lang="en-US" sz="28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28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sz="28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𝜔</m:t>
                          </m:r>
                        </m:e>
                        <m:sup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p>
                          <m: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Ο</m:t>
                      </m:r>
                      <m:d>
                        <m:dPr>
                          <m:ctrlPr>
                            <a:rPr lang="en-US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E639FEA-3C72-AFF4-0829-16FB70A73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497" y="5006980"/>
                <a:ext cx="9579006" cy="10604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1300EF7-F4D0-FEF4-EF06-E9426C8AA977}"/>
              </a:ext>
            </a:extLst>
          </p:cNvPr>
          <p:cNvSpPr/>
          <p:nvPr/>
        </p:nvSpPr>
        <p:spPr>
          <a:xfrm>
            <a:off x="1306496" y="5025195"/>
            <a:ext cx="9579005" cy="11097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5BF8D9C-4C1E-C02D-DF6C-C5976C740ECE}"/>
              </a:ext>
            </a:extLst>
          </p:cNvPr>
          <p:cNvSpPr txBox="1">
            <a:spLocks/>
          </p:cNvSpPr>
          <p:nvPr/>
        </p:nvSpPr>
        <p:spPr>
          <a:xfrm>
            <a:off x="838200" y="452334"/>
            <a:ext cx="10515600" cy="943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Newmark algorithm : Integration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59152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DF65-802F-F0C7-BD0C-F9AA0D38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diagramme, ligne, croquis, dessin">
            <a:extLst>
              <a:ext uri="{FF2B5EF4-FFF2-40B4-BE49-F238E27FC236}">
                <a16:creationId xmlns:a16="http://schemas.microsoft.com/office/drawing/2014/main" id="{1ED9164F-50E5-F004-C7AD-505216830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260" y="1443742"/>
            <a:ext cx="6396223" cy="2458167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57926A-4F7E-23D9-12EB-B65324CE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E0F20D-BAF8-695E-57E8-9D745A81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6D4BB09D-2098-70B8-2EC7-EFA32CEC4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EA795E46-E99B-C4A9-362B-18BAA6902B28}"/>
              </a:ext>
            </a:extLst>
          </p:cNvPr>
          <p:cNvSpPr txBox="1">
            <a:spLocks/>
          </p:cNvSpPr>
          <p:nvPr/>
        </p:nvSpPr>
        <p:spPr>
          <a:xfrm>
            <a:off x="3130825" y="808383"/>
            <a:ext cx="5930348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Reduction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DE25D406-4E52-5D54-9670-50DC9BE71AB7}"/>
                  </a:ext>
                </a:extLst>
              </p:cNvPr>
              <p:cNvSpPr txBox="1"/>
              <p:nvPr/>
            </p:nvSpPr>
            <p:spPr>
              <a:xfrm>
                <a:off x="5510357" y="2586760"/>
                <a:ext cx="11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2400" b="0" i="1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fr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sz="2400" b="0" i="1" smtClean="0">
                          <a:latin typeface="Cambria Math" panose="02040503050406030204" pitchFamily="18" charset="0"/>
                        </a:rPr>
                        <m:t>𝐑</m:t>
                      </m:r>
                      <m:sSub>
                        <m:sSubPr>
                          <m:ctrlPr>
                            <a:rPr lang="fr-B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2400" b="0" i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fr-BE" sz="2400" b="0" i="1" smtClean="0">
                              <a:latin typeface="Cambria Math" panose="02040503050406030204" pitchFamily="18" charset="0"/>
                            </a:rPr>
                            <m:t>𝐑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DE25D406-4E52-5D54-9670-50DC9BE71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357" y="2586760"/>
                <a:ext cx="1171283" cy="369332"/>
              </a:xfrm>
              <a:prstGeom prst="rect">
                <a:avLst/>
              </a:prstGeom>
              <a:blipFill>
                <a:blip r:embed="rId4"/>
                <a:stretch>
                  <a:fillRect l="-3646" r="-2604" b="-1311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C969AE2-5346-4D8D-F1CD-0785B2E43A85}"/>
                  </a:ext>
                </a:extLst>
              </p:cNvPr>
              <p:cNvSpPr txBox="1"/>
              <p:nvPr/>
            </p:nvSpPr>
            <p:spPr>
              <a:xfrm>
                <a:off x="4962386" y="3756959"/>
                <a:ext cx="2267224" cy="698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fr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BE" sz="2400" i="1" smtClea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𝐂𝐂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BE" sz="2400" b="0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𝐂𝐑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C969AE2-5346-4D8D-F1CD-0785B2E43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386" y="3756959"/>
                <a:ext cx="2267224" cy="6981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A01637E-620C-3FDF-7689-E1384A99581B}"/>
                  </a:ext>
                </a:extLst>
              </p:cNvPr>
              <p:cNvSpPr txBox="1"/>
              <p:nvPr/>
            </p:nvSpPr>
            <p:spPr>
              <a:xfrm>
                <a:off x="4686702" y="5108889"/>
                <a:ext cx="2818592" cy="699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fr-B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fr-BE" sz="2400" i="1">
                                    <a:latin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  <m:e>
                                <m:r>
                                  <a:rPr lang="fr-BE" sz="2400" b="0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fr-BE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BE" sz="2400" i="1" smtClean="0">
                                        <a:latin typeface="Cambria Math" panose="020405030504060302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fr-BE" sz="2400" i="1" smtClean="0">
                                        <a:latin typeface="Cambria Math" panose="02040503050406030204" pitchFamily="18" charset="0"/>
                                      </a:rPr>
                                      <m:t>𝐈𝐈</m:t>
                                    </m:r>
                                  </m:sub>
                                  <m:sup>
                                    <m:r>
                                      <a:rPr lang="fr-BE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BE" sz="2400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  <m:r>
                                  <a:rPr lang="fr-BE" sz="2400" b="0" i="1" smtClean="0">
                                    <a:latin typeface="Cambria Math" panose="02040503050406030204" pitchFamily="18" charset="0"/>
                                  </a:rPr>
                                  <m:t> </m:t>
                                </m:r>
                                <m:sSub>
                                  <m:sSubPr>
                                    <m:ctrlPr>
                                      <a:rPr lang="fr-BE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BE" sz="2400" i="1">
                                        <a:latin typeface="Cambria Math" panose="020405030504060302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fr-BE" sz="2400" i="1">
                                        <a:latin typeface="Cambria Math" panose="02040503050406030204" pitchFamily="18" charset="0"/>
                                      </a:rPr>
                                      <m:t>𝐈𝐁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fr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BE" sz="2400" i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BE" sz="2400" b="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A01637E-620C-3FDF-7689-E1384A995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702" y="5108889"/>
                <a:ext cx="2818592" cy="6994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BCAB7701-1465-0A1E-FEA8-039FD6D65168}"/>
              </a:ext>
            </a:extLst>
          </p:cNvPr>
          <p:cNvSpPr txBox="1"/>
          <p:nvPr/>
        </p:nvSpPr>
        <p:spPr>
          <a:xfrm>
            <a:off x="1210016" y="1874728"/>
            <a:ext cx="6263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Reduction matrix </a:t>
            </a:r>
            <a:r>
              <a:rPr lang="en-US" sz="2800" b="1" dirty="0"/>
              <a:t>R </a:t>
            </a:r>
            <a:r>
              <a:rPr lang="en-US" sz="2800" dirty="0"/>
              <a:t>given by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126C413-F7C7-123F-75F8-FE058B7C238E}"/>
              </a:ext>
            </a:extLst>
          </p:cNvPr>
          <p:cNvSpPr txBox="1"/>
          <p:nvPr/>
        </p:nvSpPr>
        <p:spPr>
          <a:xfrm>
            <a:off x="1210016" y="3144905"/>
            <a:ext cx="569425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Guyan-Irons (static condensation): </a:t>
            </a:r>
          </a:p>
          <a:p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A68B02-6035-6EE4-F9CE-9DE480B19BF6}"/>
              </a:ext>
            </a:extLst>
          </p:cNvPr>
          <p:cNvSpPr txBox="1"/>
          <p:nvPr/>
        </p:nvSpPr>
        <p:spPr>
          <a:xfrm>
            <a:off x="1210016" y="4460053"/>
            <a:ext cx="278993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Craig-Bampton : </a:t>
            </a:r>
          </a:p>
          <a:p>
            <a:endParaRPr lang="en-US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3448A9A-4801-21E5-C211-940CACA78314}"/>
              </a:ext>
            </a:extLst>
          </p:cNvPr>
          <p:cNvCxnSpPr>
            <a:cxnSpLocks/>
          </p:cNvCxnSpPr>
          <p:nvPr/>
        </p:nvCxnSpPr>
        <p:spPr>
          <a:xfrm>
            <a:off x="7077210" y="5808311"/>
            <a:ext cx="0" cy="2755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C3F53D7-5D10-5E4C-96E0-228AD4B9C14C}"/>
              </a:ext>
            </a:extLst>
          </p:cNvPr>
          <p:cNvCxnSpPr>
            <a:cxnSpLocks/>
          </p:cNvCxnSpPr>
          <p:nvPr/>
        </p:nvCxnSpPr>
        <p:spPr>
          <a:xfrm>
            <a:off x="7074764" y="6083901"/>
            <a:ext cx="11679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2CDAD59B-8EC2-38EC-4F48-75884FDA8ED3}"/>
              </a:ext>
            </a:extLst>
          </p:cNvPr>
          <p:cNvSpPr txBox="1"/>
          <p:nvPr/>
        </p:nvSpPr>
        <p:spPr>
          <a:xfrm>
            <a:off x="8161019" y="5899235"/>
            <a:ext cx="304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Adjustable accuracy</a:t>
            </a: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D891D81C-40C6-497F-823D-37C469F963CB}"/>
              </a:ext>
            </a:extLst>
          </p:cNvPr>
          <p:cNvSpPr txBox="1"/>
          <p:nvPr/>
        </p:nvSpPr>
        <p:spPr>
          <a:xfrm>
            <a:off x="8254447" y="2300298"/>
            <a:ext cx="328937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fr-BE" sz="2400" dirty="0">
                <a:solidFill>
                  <a:srgbClr val="E71224"/>
                </a:solidFill>
              </a:rPr>
              <a:t>•</a:t>
            </a:r>
          </a:p>
        </p:txBody>
      </p:sp>
      <p:sp>
        <p:nvSpPr>
          <p:cNvPr id="26" name="TekstSylinder 28">
            <a:extLst>
              <a:ext uri="{FF2B5EF4-FFF2-40B4-BE49-F238E27FC236}">
                <a16:creationId xmlns:a16="http://schemas.microsoft.com/office/drawing/2014/main" id="{1B283090-3656-BBBA-8F9B-14F13E3E1E2F}"/>
              </a:ext>
            </a:extLst>
          </p:cNvPr>
          <p:cNvSpPr txBox="1"/>
          <p:nvPr/>
        </p:nvSpPr>
        <p:spPr>
          <a:xfrm>
            <a:off x="9219400" y="2647425"/>
            <a:ext cx="328937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fr-BE" sz="2400" dirty="0">
                <a:solidFill>
                  <a:srgbClr val="E71224"/>
                </a:solidFill>
              </a:rPr>
              <a:t>•</a:t>
            </a:r>
          </a:p>
        </p:txBody>
      </p:sp>
      <p:sp>
        <p:nvSpPr>
          <p:cNvPr id="27" name="TekstSylinder 28">
            <a:extLst>
              <a:ext uri="{FF2B5EF4-FFF2-40B4-BE49-F238E27FC236}">
                <a16:creationId xmlns:a16="http://schemas.microsoft.com/office/drawing/2014/main" id="{DDBEC15F-1D5E-4BF3-C2E9-EA1823F86A41}"/>
              </a:ext>
            </a:extLst>
          </p:cNvPr>
          <p:cNvSpPr txBox="1"/>
          <p:nvPr/>
        </p:nvSpPr>
        <p:spPr>
          <a:xfrm>
            <a:off x="10206774" y="2586760"/>
            <a:ext cx="328937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fr-BE" sz="2400" dirty="0">
                <a:solidFill>
                  <a:srgbClr val="E71224"/>
                </a:solidFill>
              </a:rPr>
              <a:t>•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4E9669F-EBC9-3AFF-42FD-9B47E9885190}"/>
              </a:ext>
            </a:extLst>
          </p:cNvPr>
          <p:cNvCxnSpPr>
            <a:stCxn id="2" idx="3"/>
            <a:endCxn id="29" idx="1"/>
          </p:cNvCxnSpPr>
          <p:nvPr/>
        </p:nvCxnSpPr>
        <p:spPr>
          <a:xfrm flipV="1">
            <a:off x="6681640" y="2531131"/>
            <a:ext cx="1572807" cy="24029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3AA40E02-2C77-C904-D8C8-DA06DC816CFD}"/>
              </a:ext>
            </a:extLst>
          </p:cNvPr>
          <p:cNvCxnSpPr>
            <a:stCxn id="2" idx="3"/>
            <a:endCxn id="26" idx="1"/>
          </p:cNvCxnSpPr>
          <p:nvPr/>
        </p:nvCxnSpPr>
        <p:spPr>
          <a:xfrm>
            <a:off x="6681640" y="2771426"/>
            <a:ext cx="2537760" cy="10683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E9DA1C8F-54E3-2D01-AE47-A5D063594153}"/>
              </a:ext>
            </a:extLst>
          </p:cNvPr>
          <p:cNvCxnSpPr>
            <a:stCxn id="2" idx="3"/>
            <a:endCxn id="27" idx="1"/>
          </p:cNvCxnSpPr>
          <p:nvPr/>
        </p:nvCxnSpPr>
        <p:spPr>
          <a:xfrm>
            <a:off x="6681640" y="2771426"/>
            <a:ext cx="3525134" cy="4616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532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89D4-50C9-74B6-46B5-E09BFA26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37D542-5141-83FF-EB08-4CB51E94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693620-A3E6-FAFB-ADDA-A93C654F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5361A535-5FAD-28F2-52B3-4DCACA3E0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8385556D-A29F-5169-BFFF-CB81A8D7E09C}"/>
              </a:ext>
            </a:extLst>
          </p:cNvPr>
          <p:cNvSpPr txBox="1">
            <a:spLocks/>
          </p:cNvSpPr>
          <p:nvPr/>
        </p:nvSpPr>
        <p:spPr>
          <a:xfrm>
            <a:off x="3130825" y="808383"/>
            <a:ext cx="5930348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Craig-Bampton accuracy</a:t>
            </a: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D83DA7A9-8F9A-01E7-EE47-701066FF4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6499" y="1024889"/>
            <a:ext cx="72390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7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C236-A113-1179-323B-9A9BB448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CF9096-4D9F-B196-14AC-915FBC11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71A74D-9C1A-75E0-4E8C-82414F91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FE0708EF-BEFD-72EE-1E0E-1D35D4830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7BB831D0-BC8E-B8B5-FEDA-695736A679E9}"/>
              </a:ext>
            </a:extLst>
          </p:cNvPr>
          <p:cNvSpPr txBox="1">
            <a:spLocks/>
          </p:cNvSpPr>
          <p:nvPr/>
        </p:nvSpPr>
        <p:spPr>
          <a:xfrm>
            <a:off x="3130825" y="808383"/>
            <a:ext cx="5930348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Modal Analysis Comparison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BAA9E671-065A-3213-3E61-7CEECCA02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27471"/>
              </p:ext>
            </p:extLst>
          </p:nvPr>
        </p:nvGraphicFramePr>
        <p:xfrm>
          <a:off x="1613017" y="5225297"/>
          <a:ext cx="8965965" cy="111252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999107">
                  <a:extLst>
                    <a:ext uri="{9D8B030D-6E8A-4147-A177-3AD203B41FA5}">
                      <a16:colId xmlns:a16="http://schemas.microsoft.com/office/drawing/2014/main" val="34606914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363304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342117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977331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669467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836781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24902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Relative error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Mode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Mode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Mode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Mode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Mode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Mode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91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C-B ( 7 modes)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0.409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0.165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931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G-I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13.05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22.69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noProof="0" dirty="0"/>
                        <a:t>15.22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noProof="0" dirty="0"/>
                        <a:t>202.29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noProof="0" dirty="0"/>
                        <a:t>427.48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913602"/>
                  </a:ext>
                </a:extLst>
              </a:tr>
            </a:tbl>
          </a:graphicData>
        </a:graphic>
      </p:graphicFrame>
      <p:pic>
        <p:nvPicPr>
          <p:cNvPr id="13" name="Graphique 12">
            <a:extLst>
              <a:ext uri="{FF2B5EF4-FFF2-40B4-BE49-F238E27FC236}">
                <a16:creationId xmlns:a16="http://schemas.microsoft.com/office/drawing/2014/main" id="{0F8C5F44-6F36-D1A9-2105-181EA7C8F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0753" y="1148341"/>
            <a:ext cx="4561317" cy="4561317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9606D1EF-9FD1-E5DC-14DC-6E4CA092A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9188" y="1148341"/>
            <a:ext cx="4561317" cy="456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58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480B-E9A5-A29E-5980-E72FCCB6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DCDB41-9957-DA57-EDB4-A6DDCE39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86AB72-C3D3-9BE9-0012-59F77CC3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07B483F1-E5D8-F7F0-5C22-D19084422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139EEAB-6A80-9685-9924-B994D0F602E7}"/>
              </a:ext>
            </a:extLst>
          </p:cNvPr>
          <p:cNvSpPr txBox="1">
            <a:spLocks/>
          </p:cNvSpPr>
          <p:nvPr/>
        </p:nvSpPr>
        <p:spPr>
          <a:xfrm>
            <a:off x="2165074" y="822859"/>
            <a:ext cx="7861852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Transient Response Comparison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640C149C-7657-5C9A-E051-B141D3BC1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9189" y="1642328"/>
            <a:ext cx="4793258" cy="3594943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F53780F2-3F16-619B-FE42-BC1EA42FE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614" y="1663926"/>
            <a:ext cx="4764458" cy="3573344"/>
          </a:xfrm>
          <a:prstGeom prst="rect">
            <a:avLst/>
          </a:prstGeom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38326B3-E7D3-CBAC-DECD-9F9CA7D0B5AF}"/>
              </a:ext>
            </a:extLst>
          </p:cNvPr>
          <p:cNvCxnSpPr>
            <a:cxnSpLocks/>
          </p:cNvCxnSpPr>
          <p:nvPr/>
        </p:nvCxnSpPr>
        <p:spPr>
          <a:xfrm>
            <a:off x="8229599" y="2737757"/>
            <a:ext cx="288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70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DEF8B-69FB-FF96-2382-92E99B0B1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AE54E1-D6B8-29C2-15D3-9063FB101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0B4F49-D164-8A3E-8D52-6A80928E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9D012E53-A485-8E9C-8504-1CB76A44C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A42C3769-FE06-A79C-2E6D-4977CD8427C7}"/>
              </a:ext>
            </a:extLst>
          </p:cNvPr>
          <p:cNvSpPr txBox="1">
            <a:spLocks/>
          </p:cNvSpPr>
          <p:nvPr/>
        </p:nvSpPr>
        <p:spPr>
          <a:xfrm>
            <a:off x="2254525" y="808383"/>
            <a:ext cx="7682948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Computational Cost comparison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25F9BC50-9B04-994E-FE62-585F95EAF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0181" y="1600198"/>
            <a:ext cx="6011636" cy="450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4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FD78-4D4F-B463-B469-C7553708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6FB00A-C95D-727E-3CCE-6F30F4F0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18-12-25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2660BD-228B-FA81-CAE8-C16A0279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CDF9-FCE0-4FC0-B237-BB87E200A8B0}" type="slidenum">
              <a:rPr lang="en-US" noProof="0" smtClean="0"/>
              <a:t>14</a:t>
            </a:fld>
            <a:endParaRPr lang="en-US" noProof="0" dirty="0"/>
          </a:p>
        </p:txBody>
      </p:sp>
      <p:pic>
        <p:nvPicPr>
          <p:cNvPr id="6" name="Picture 2" descr="FAQ Espace de téléchargement">
            <a:extLst>
              <a:ext uri="{FF2B5EF4-FFF2-40B4-BE49-F238E27FC236}">
                <a16:creationId xmlns:a16="http://schemas.microsoft.com/office/drawing/2014/main" id="{9C9E16CA-3A7D-2C5C-9496-05E00AF03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62843" cy="80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6685B6E4-BBC1-DFA6-DF15-7132F5C4421E}"/>
              </a:ext>
            </a:extLst>
          </p:cNvPr>
          <p:cNvSpPr txBox="1">
            <a:spLocks/>
          </p:cNvSpPr>
          <p:nvPr/>
        </p:nvSpPr>
        <p:spPr>
          <a:xfrm>
            <a:off x="3130826" y="808383"/>
            <a:ext cx="5930348" cy="586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40B57B7-4FCB-A010-3278-6BA07D1095ED}"/>
              </a:ext>
            </a:extLst>
          </p:cNvPr>
          <p:cNvSpPr txBox="1"/>
          <p:nvPr/>
        </p:nvSpPr>
        <p:spPr>
          <a:xfrm>
            <a:off x="457200" y="1395088"/>
            <a:ext cx="113156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: Convergence in 5 elements/beam.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Python stiffer than NX (Euler-Bernoulli).</a:t>
            </a:r>
            <a:endParaRPr lang="en-US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Approximation methods </a:t>
            </a: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 method has better accuracy with a small number of modes. Performs best for smaller cost.</a:t>
            </a:r>
          </a:p>
          <a:p>
            <a:endParaRPr lang="en-US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Newmark algorithm </a:t>
            </a: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average constant acceleration scheme performs best. Smaller time step = </a:t>
            </a:r>
            <a:r>
              <a:rPr lang="en-US" sz="2400" noProof="0">
                <a:latin typeface="Arial" panose="020B0604020202020204" pitchFamily="34" charset="0"/>
                <a:cs typeface="Arial" panose="020B0604020202020204" pitchFamily="34" charset="0"/>
              </a:rPr>
              <a:t>better accuracy </a:t>
            </a: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but trade-off with computation time.</a:t>
            </a:r>
          </a:p>
          <a:p>
            <a:endParaRPr lang="en-US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: C-B superior in accuracy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“adjustable”,</a:t>
            </a:r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small additional cost.</a:t>
            </a:r>
          </a:p>
        </p:txBody>
      </p:sp>
    </p:spTree>
    <p:extLst>
      <p:ext uri="{BB962C8B-B14F-4D97-AF65-F5344CB8AC3E}">
        <p14:creationId xmlns:p14="http://schemas.microsoft.com/office/powerpoint/2010/main" val="13940344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Grand écran</PresentationFormat>
  <Paragraphs>151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Thème Office</vt:lpstr>
      <vt:lpstr>Analysis of the dynamic behavior of a steel canopy</vt:lpstr>
      <vt:lpstr>Présentation PowerPoint</vt:lpstr>
      <vt:lpstr>Modal analysis :  convergence &amp; comparison of the 2 models</vt:lpstr>
      <vt:lpstr>Présentation PowerPoint</vt:lpstr>
      <vt:lpstr>Comfort level</vt:lpstr>
      <vt:lpstr>Damping ratios</vt:lpstr>
      <vt:lpstr>Newmark algorithm : Integration parameters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Beauve Tom</dc:creator>
  <cp:lastModifiedBy>Beauve Tom</cp:lastModifiedBy>
  <cp:revision>2</cp:revision>
  <dcterms:created xsi:type="dcterms:W3CDTF">2025-12-01T09:56:07Z</dcterms:created>
  <dcterms:modified xsi:type="dcterms:W3CDTF">2025-12-03T22:30:55Z</dcterms:modified>
</cp:coreProperties>
</file>